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4" r:id="rId6"/>
    <p:sldId id="257" r:id="rId7"/>
    <p:sldId id="266" r:id="rId8"/>
    <p:sldId id="270" r:id="rId9"/>
    <p:sldId id="261" r:id="rId10"/>
    <p:sldId id="271" r:id="rId11"/>
    <p:sldId id="267" r:id="rId12"/>
    <p:sldId id="268" r:id="rId13"/>
    <p:sldId id="269" r:id="rId14"/>
    <p:sldId id="259" r:id="rId15"/>
    <p:sldId id="258" r:id="rId16"/>
    <p:sldId id="272" r:id="rId17"/>
    <p:sldId id="262" r:id="rId18"/>
    <p:sldId id="263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izbek Manarbekuly" userId="S::a_manarbekuly@kbtu.kz::baba03a6-c2f2-4497-93ef-972527a76e24" providerId="AD" clId="Web-{B3ACF5F1-2C0D-4D78-A30F-5049085462FE}"/>
    <pc:docChg chg="modSld">
      <pc:chgData name="Azizbek Manarbekuly" userId="S::a_manarbekuly@kbtu.kz::baba03a6-c2f2-4497-93ef-972527a76e24" providerId="AD" clId="Web-{B3ACF5F1-2C0D-4D78-A30F-5049085462FE}" dt="2025-03-01T08:42:23.217" v="1" actId="20577"/>
      <pc:docMkLst>
        <pc:docMk/>
      </pc:docMkLst>
      <pc:sldChg chg="modSp">
        <pc:chgData name="Azizbek Manarbekuly" userId="S::a_manarbekuly@kbtu.kz::baba03a6-c2f2-4497-93ef-972527a76e24" providerId="AD" clId="Web-{B3ACF5F1-2C0D-4D78-A30F-5049085462FE}" dt="2025-03-01T08:42:23.217" v="1" actId="20577"/>
        <pc:sldMkLst>
          <pc:docMk/>
          <pc:sldMk cId="0" sldId="259"/>
        </pc:sldMkLst>
        <pc:spChg chg="mod">
          <ac:chgData name="Azizbek Manarbekuly" userId="S::a_manarbekuly@kbtu.kz::baba03a6-c2f2-4497-93ef-972527a76e24" providerId="AD" clId="Web-{B3ACF5F1-2C0D-4D78-A30F-5049085462FE}" dt="2025-03-01T08:42:23.217" v="1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028" y="2430010"/>
            <a:ext cx="8229600" cy="1143000"/>
          </a:xfrm>
        </p:spPr>
        <p:txBody>
          <a:bodyPr/>
          <a:lstStyle/>
          <a:p>
            <a:r>
              <a:rPr b="1" dirty="0"/>
              <a:t>Introduction to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857" y="4215266"/>
            <a:ext cx="4027714" cy="9772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Sholpan Saimassayeva</a:t>
            </a:r>
          </a:p>
          <a:p>
            <a:pPr marL="0" indent="0">
              <a:buNone/>
            </a:pPr>
            <a:r>
              <a:rPr lang="en-US" dirty="0"/>
              <a:t>s.saimassayeva@kbtu.kz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C4EDB-3F98-03AF-500B-2B481B35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C5C7BB-455E-8E1B-B9D4-0C553112B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 err="1"/>
              <a:t>Introduction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Angular</a:t>
            </a:r>
            <a:endParaRPr lang="ru-KZ" dirty="0"/>
          </a:p>
          <a:p>
            <a:pPr lvl="0"/>
            <a:r>
              <a:rPr lang="ru-RU" dirty="0" err="1"/>
              <a:t>Goals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Architecture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Angular</a:t>
            </a:r>
            <a:endParaRPr lang="ru-KZ" dirty="0"/>
          </a:p>
          <a:p>
            <a:pPr lvl="0"/>
            <a:r>
              <a:rPr lang="ru-RU" dirty="0" err="1"/>
              <a:t>Angular</a:t>
            </a:r>
            <a:r>
              <a:rPr lang="ru-RU" dirty="0"/>
              <a:t> CLI </a:t>
            </a:r>
            <a:r>
              <a:rPr lang="ru-RU" dirty="0" err="1"/>
              <a:t>usage</a:t>
            </a:r>
            <a:endParaRPr lang="ru-KZ" dirty="0"/>
          </a:p>
          <a:p>
            <a:r>
              <a:rPr lang="ru-RU" dirty="0"/>
              <a:t>JavaScript </a:t>
            </a:r>
            <a:r>
              <a:rPr lang="ru-RU" dirty="0" err="1"/>
              <a:t>vs</a:t>
            </a:r>
            <a:r>
              <a:rPr lang="ru-RU" dirty="0"/>
              <a:t>. </a:t>
            </a:r>
            <a:r>
              <a:rPr lang="ru-RU" dirty="0" err="1"/>
              <a:t>TypeScript</a:t>
            </a:r>
            <a:r>
              <a:rPr lang="ru-RU" dirty="0"/>
              <a:t> </a:t>
            </a:r>
            <a:r>
              <a:rPr lang="ru-RU" dirty="0" err="1"/>
              <a:t>basics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662285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Angular?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Angular is a TypeScript-based open-source front-end framework developed by Google.</a:t>
            </a:r>
          </a:p>
          <a:p>
            <a:pPr algn="just"/>
            <a:r>
              <a:rPr dirty="0"/>
              <a:t>Used for building single-page applications (SPAs).</a:t>
            </a:r>
          </a:p>
          <a:p>
            <a:pPr algn="just"/>
            <a:r>
              <a:rPr dirty="0"/>
              <a:t>Provides a structured and modular approach to web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CABCB-3A41-65B0-E7A1-0A800309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Goal of Angular?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D5B478-CFC7-5F10-5D80-4A82DAA12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Angular is designed to </a:t>
            </a:r>
            <a:r>
              <a:rPr lang="en-US" b="1" dirty="0"/>
              <a:t>streamline web development</a:t>
            </a:r>
            <a:r>
              <a:rPr lang="en-US" dirty="0"/>
              <a:t>, enabling developers to build </a:t>
            </a:r>
            <a:r>
              <a:rPr lang="en-US" b="1" dirty="0"/>
              <a:t>high-performance, scalable, and maintainable</a:t>
            </a:r>
            <a:r>
              <a:rPr lang="en-US" dirty="0"/>
              <a:t> applications efficiently.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676165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DFAEE-2E14-9877-6E73-1F462FCE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Goals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B0DC22-0570-CED6-B92B-9E35BC89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Scalability:</a:t>
            </a:r>
            <a:r>
              <a:rPr lang="en-US" dirty="0"/>
              <a:t> Built for large teams and massive codebases.</a:t>
            </a:r>
          </a:p>
          <a:p>
            <a:pPr marL="0" indent="0">
              <a:buNone/>
            </a:pPr>
            <a:r>
              <a:rPr lang="en-US" b="1" dirty="0"/>
              <a:t>Performance:</a:t>
            </a:r>
            <a:r>
              <a:rPr lang="en-US" dirty="0"/>
              <a:t> Uses the </a:t>
            </a:r>
            <a:r>
              <a:rPr lang="en-US" b="1" dirty="0"/>
              <a:t>Ivy Rendering Engine</a:t>
            </a:r>
            <a:r>
              <a:rPr lang="en-US" dirty="0"/>
              <a:t> for fast execution and small bundle sizes.</a:t>
            </a:r>
          </a:p>
          <a:p>
            <a:pPr marL="0" indent="0">
              <a:buNone/>
            </a:pPr>
            <a:r>
              <a:rPr lang="en-US" b="1" dirty="0"/>
              <a:t>Productivity:</a:t>
            </a:r>
            <a:r>
              <a:rPr lang="en-US" dirty="0"/>
              <a:t> Provides a clear structure and opinionated "best practices" to avoid decision fatigue.</a:t>
            </a:r>
          </a:p>
          <a:p>
            <a:pPr marL="0" indent="0">
              <a:buNone/>
            </a:pPr>
            <a:r>
              <a:rPr lang="en-US" b="1" dirty="0"/>
              <a:t>Cross-Platform:</a:t>
            </a:r>
            <a:r>
              <a:rPr lang="en-US" dirty="0"/>
              <a:t> Can be used to build web, mobile, and desktop apps.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04557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Modules</a:t>
            </a:r>
          </a:p>
          <a:p>
            <a:r>
              <a:rPr dirty="0"/>
              <a:t>Components</a:t>
            </a:r>
          </a:p>
          <a:p>
            <a:r>
              <a:rPr dirty="0"/>
              <a:t>Templates</a:t>
            </a:r>
          </a:p>
          <a:p>
            <a:r>
              <a:rPr dirty="0"/>
              <a:t>Services</a:t>
            </a:r>
          </a:p>
          <a:p>
            <a:r>
              <a:rPr dirty="0"/>
              <a:t>Directives &amp; Pipes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66625-A74D-B809-C1AA-E34D17D12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Architectural Building Blocks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C4BD38-7A73-A79D-6B7C-83AC04AD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6544"/>
            <a:ext cx="8229600" cy="5396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Angular follows a </a:t>
            </a:r>
            <a:r>
              <a:rPr lang="en-US" sz="2400" b="1" dirty="0"/>
              <a:t>Component-Based Architecture</a:t>
            </a:r>
            <a:r>
              <a:rPr lang="en-US" sz="2400" dirty="0"/>
              <a:t>. </a:t>
            </a:r>
          </a:p>
          <a:p>
            <a:pPr marL="514350" indent="-514350">
              <a:buAutoNum type="arabicPeriod"/>
            </a:pPr>
            <a:r>
              <a:rPr lang="en-US" sz="2400" b="1" dirty="0"/>
              <a:t>Modules (</a:t>
            </a:r>
            <a:r>
              <a:rPr lang="en-US" sz="2400" b="1" dirty="0" err="1"/>
              <a:t>NgModules</a:t>
            </a:r>
            <a:r>
              <a:rPr lang="en-US" sz="2400" b="1" dirty="0"/>
              <a:t>):</a:t>
            </a:r>
            <a:r>
              <a:rPr lang="en-US" sz="2400" dirty="0"/>
              <a:t> Containers for a block of code. Every app has at least one </a:t>
            </a:r>
            <a:r>
              <a:rPr lang="en-US" sz="2400" b="1" dirty="0"/>
              <a:t>Root Module</a:t>
            </a:r>
            <a:r>
              <a:rPr lang="en-US" sz="2400" dirty="0"/>
              <a:t> (</a:t>
            </a:r>
            <a:r>
              <a:rPr lang="en-US" sz="2400" dirty="0" err="1"/>
              <a:t>AppModule</a:t>
            </a:r>
            <a:r>
              <a:rPr lang="en-US" sz="2400" dirty="0"/>
              <a:t>)</a:t>
            </a:r>
          </a:p>
          <a:p>
            <a:pPr marL="514350" indent="-514350">
              <a:buAutoNum type="arabicPeriod"/>
            </a:pPr>
            <a:r>
              <a:rPr lang="en-US" sz="2400" b="1" dirty="0"/>
              <a:t>Components:</a:t>
            </a:r>
            <a:r>
              <a:rPr lang="en-US" sz="2400" dirty="0"/>
              <a:t> The fundamental building blocks of the UI. Each component consists of:</a:t>
            </a:r>
          </a:p>
          <a:p>
            <a:pPr marL="0" indent="0">
              <a:buNone/>
            </a:pPr>
            <a:r>
              <a:rPr lang="en-US" sz="2400" dirty="0"/>
              <a:t>	A </a:t>
            </a:r>
            <a:r>
              <a:rPr lang="en-US" sz="2400" b="1" dirty="0"/>
              <a:t>Template</a:t>
            </a:r>
            <a:r>
              <a:rPr lang="en-US" sz="2400" dirty="0"/>
              <a:t> (HTML).</a:t>
            </a:r>
          </a:p>
          <a:p>
            <a:pPr marL="0" indent="0">
              <a:buNone/>
            </a:pPr>
            <a:r>
              <a:rPr lang="en-US" sz="2400" dirty="0"/>
              <a:t>	A </a:t>
            </a:r>
            <a:r>
              <a:rPr lang="en-US" sz="2400" b="1" dirty="0"/>
              <a:t>Class</a:t>
            </a:r>
            <a:r>
              <a:rPr lang="en-US" sz="2400" dirty="0"/>
              <a:t> (TypeScript logic).</a:t>
            </a:r>
          </a:p>
          <a:p>
            <a:pPr marL="0" indent="0">
              <a:buNone/>
            </a:pPr>
            <a:r>
              <a:rPr lang="en-US" sz="2400" b="1" dirty="0"/>
              <a:t>	Styles</a:t>
            </a:r>
            <a:r>
              <a:rPr lang="en-US" sz="2400" dirty="0"/>
              <a:t> (CSS).</a:t>
            </a:r>
          </a:p>
          <a:p>
            <a:pPr marL="0" indent="0">
              <a:buNone/>
            </a:pPr>
            <a:r>
              <a:rPr lang="en-US" sz="2400" b="1" dirty="0"/>
              <a:t>3. Templates and Data Binding: </a:t>
            </a:r>
            <a:r>
              <a:rPr lang="en-US" sz="2400" dirty="0"/>
              <a:t>Angular uses specialized syntax to link the logic TypeScript class to the HTML view.</a:t>
            </a:r>
          </a:p>
          <a:p>
            <a:pPr marL="0" indent="0">
              <a:buNone/>
            </a:pPr>
            <a:r>
              <a:rPr lang="en-US" sz="2400" b="1" dirty="0"/>
              <a:t>4. Services:</a:t>
            </a:r>
            <a:r>
              <a:rPr lang="en-US" sz="2400" dirty="0"/>
              <a:t> Classes used for sharing data or logic across multiple components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846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942F8-7844-4475-250C-A155C671A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Angular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D3D3F-63C0-291C-057C-EB149E33A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1" dirty="0"/>
              <a:t>Build Single-Page Applications</a:t>
            </a:r>
          </a:p>
          <a:p>
            <a:pPr marL="0" indent="0" algn="just">
              <a:buNone/>
            </a:pPr>
            <a:r>
              <a:rPr lang="en-US" dirty="0"/>
              <a:t>	Angular is optimized for creating dynamic 	SPAs, where content updates without requiring 	full-page reloads, enhancing user experience. </a:t>
            </a:r>
          </a:p>
          <a:p>
            <a:pPr algn="just"/>
            <a:r>
              <a:rPr lang="en-US" b="1" dirty="0"/>
              <a:t>Provide a Modular and Scalable Architecture </a:t>
            </a:r>
          </a:p>
          <a:p>
            <a:pPr marL="0" indent="0" algn="just">
              <a:buNone/>
            </a:pPr>
            <a:r>
              <a:rPr lang="en-US" dirty="0"/>
              <a:t>	Uses a component-based architecture, making 	applications easier to develop, test, and scale. 	Encourages code reusability through modules, 	services, and dependency injection.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99405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0B1D2-B824-1FA5-CD1C-F28B2B04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Angular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441184-5080-C2CA-8A46-1B83DD373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Enhance Performance and Maintainability </a:t>
            </a:r>
            <a:r>
              <a:rPr lang="en-US" dirty="0"/>
              <a:t>Features like lazy loading, ahead-of-time (AOT) compilation, and change detection optimizations improve speed and efficiency. TypeScript ensures better maintainability and reduces runtime errors. </a:t>
            </a:r>
          </a:p>
          <a:p>
            <a:pPr algn="just"/>
            <a:r>
              <a:rPr lang="en-US" b="1" dirty="0"/>
              <a:t>Facilitate Cross-Platform Development </a:t>
            </a:r>
          </a:p>
          <a:p>
            <a:pPr marL="0" indent="0" algn="just">
              <a:buNone/>
            </a:pPr>
            <a:r>
              <a:rPr lang="en-US" dirty="0"/>
              <a:t>	Angular supports web, mobile, and desktop 	applications (e.g., Angular Universal for server-	side rendering and Ionic/</a:t>
            </a:r>
            <a:r>
              <a:rPr lang="en-US" dirty="0" err="1"/>
              <a:t>NativeScript</a:t>
            </a:r>
            <a:r>
              <a:rPr lang="en-US" dirty="0"/>
              <a:t> for mobile 	apps).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55957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C9617-0753-E1E1-9728-4A3C8D2E5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Angular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5AA3D4-2175-8123-1814-B7B5201A7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 Improve Developer Productivity</a:t>
            </a:r>
          </a:p>
          <a:p>
            <a:pPr marL="0" indent="0" algn="just">
              <a:buNone/>
            </a:pPr>
            <a:r>
              <a:rPr lang="en-US" dirty="0"/>
              <a:t>	Provides built-in tools like Angular CLI for 	project setup, testing, and deployment. 	Offers two-way data binding, directives, and 	</a:t>
            </a:r>
            <a:r>
              <a:rPr lang="en-US" dirty="0" err="1"/>
              <a:t>RxJS</a:t>
            </a:r>
            <a:r>
              <a:rPr lang="en-US" dirty="0"/>
              <a:t> for handling complex UI interactions.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57261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Component-based Architecture</a:t>
            </a:r>
            <a:endParaRPr lang="ru-RU"/>
          </a:p>
          <a:p>
            <a:r>
              <a:rPr lang="en-US" dirty="0"/>
              <a:t>Two-way Data Binding</a:t>
            </a:r>
            <a:endParaRPr lang="en-US"/>
          </a:p>
          <a:p>
            <a:r>
              <a:rPr lang="en-US" dirty="0"/>
              <a:t>Dependency Injection (DI)</a:t>
            </a:r>
            <a:endParaRPr lang="en-US"/>
          </a:p>
          <a:p>
            <a:r>
              <a:rPr lang="en-US" dirty="0"/>
              <a:t>Directives</a:t>
            </a:r>
            <a:endParaRPr lang="en-US"/>
          </a:p>
          <a:p>
            <a:r>
              <a:rPr lang="en-US" dirty="0"/>
              <a:t>Routing</a:t>
            </a:r>
            <a:endParaRPr lang="en-US"/>
          </a:p>
          <a:p>
            <a:r>
              <a:rPr lang="en-US" dirty="0" err="1"/>
              <a:t>RxJS</a:t>
            </a:r>
            <a:r>
              <a:rPr lang="en-US" dirty="0"/>
              <a:t> for Reactive Programming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TypeScript in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/>
              <a:t>TypeScript</a:t>
            </a:r>
            <a:r>
              <a:rPr lang="en-US" dirty="0"/>
              <a:t> is a</a:t>
            </a:r>
            <a:r>
              <a:rPr dirty="0"/>
              <a:t> superset of JavaScript that adds static typing, interfaces, and advanced features.</a:t>
            </a:r>
            <a:endParaRPr lang="en-US" dirty="0"/>
          </a:p>
          <a:p>
            <a:pPr algn="just"/>
            <a:r>
              <a:rPr dirty="0"/>
              <a:t>Ensures better code maintainability.</a:t>
            </a:r>
          </a:p>
          <a:p>
            <a:pPr algn="just"/>
            <a:r>
              <a:rPr dirty="0"/>
              <a:t>Provides strong typing for catching errors early.</a:t>
            </a:r>
          </a:p>
          <a:p>
            <a:pPr algn="just"/>
            <a:r>
              <a:rPr dirty="0"/>
              <a:t>Supports object-oriented programming concepts.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BBF6C-A64E-EAD1-9FB2-D9D46F58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vs Typescript</a:t>
            </a:r>
            <a:endParaRPr lang="ru-KZ" dirty="0"/>
          </a:p>
        </p:txBody>
      </p:sp>
      <p:pic>
        <p:nvPicPr>
          <p:cNvPr id="5" name="Объект 4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69B8EE7-1596-EC91-2F9A-F8DA7485E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962" y="1502228"/>
            <a:ext cx="8994020" cy="427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42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an Angular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Install </a:t>
            </a:r>
            <a:r>
              <a:rPr dirty="0">
                <a:highlight>
                  <a:srgbClr val="C0C0C0"/>
                </a:highlight>
              </a:rPr>
              <a:t>Node.js </a:t>
            </a:r>
            <a:r>
              <a:rPr dirty="0"/>
              <a:t>and </a:t>
            </a:r>
            <a:r>
              <a:rPr dirty="0" err="1">
                <a:highlight>
                  <a:srgbClr val="C0C0C0"/>
                </a:highlight>
              </a:rPr>
              <a:t>npm</a:t>
            </a:r>
            <a:endParaRPr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dirty="0"/>
              <a:t>2. Install Angular CLI: </a:t>
            </a:r>
            <a:r>
              <a:rPr lang="en-US" dirty="0"/>
              <a:t>'</a:t>
            </a:r>
            <a:r>
              <a:rPr dirty="0" err="1">
                <a:highlight>
                  <a:srgbClr val="C0C0C0"/>
                </a:highlight>
              </a:rPr>
              <a:t>npm</a:t>
            </a:r>
            <a:r>
              <a:rPr dirty="0">
                <a:highlight>
                  <a:srgbClr val="C0C0C0"/>
                </a:highlight>
              </a:rPr>
              <a:t> install -g @angular/cli</a:t>
            </a:r>
            <a:r>
              <a:rPr lang="en-US" dirty="0"/>
              <a:t>'</a:t>
            </a:r>
            <a:endParaRPr dirty="0"/>
          </a:p>
          <a:p>
            <a:pPr marL="0" indent="0">
              <a:buNone/>
            </a:pPr>
            <a:r>
              <a:rPr dirty="0"/>
              <a:t>3. Create a new project: </a:t>
            </a:r>
            <a:r>
              <a:rPr lang="en-US" dirty="0"/>
              <a:t>'</a:t>
            </a:r>
            <a:r>
              <a:rPr dirty="0">
                <a:highlight>
                  <a:srgbClr val="C0C0C0"/>
                </a:highlight>
              </a:rPr>
              <a:t>ng new my-angular-app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dirty="0"/>
              <a:t>4. Serve the application: </a:t>
            </a:r>
            <a:r>
              <a:rPr lang="en-US" dirty="0"/>
              <a:t>'</a:t>
            </a:r>
            <a:r>
              <a:rPr dirty="0">
                <a:highlight>
                  <a:srgbClr val="C0C0C0"/>
                </a:highlight>
              </a:rPr>
              <a:t>ng serve</a:t>
            </a:r>
            <a:r>
              <a:rPr lang="en-US" dirty="0"/>
              <a:t>'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CLI - Key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KZ" dirty="0">
                <a:highlight>
                  <a:srgbClr val="C0C0C0"/>
                </a:highlight>
              </a:rPr>
              <a:t>-</a:t>
            </a:r>
            <a:r>
              <a:rPr dirty="0">
                <a:highlight>
                  <a:srgbClr val="C0C0C0"/>
                </a:highlight>
              </a:rPr>
              <a:t>ng new project-name</a:t>
            </a:r>
          </a:p>
          <a:p>
            <a:pPr marL="0" indent="0">
              <a:buNone/>
            </a:pPr>
            <a:r>
              <a:rPr dirty="0">
                <a:highlight>
                  <a:srgbClr val="C0C0C0"/>
                </a:highlight>
              </a:rPr>
              <a:t>-ng serve</a:t>
            </a:r>
            <a:endParaRPr lang="en-US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dirty="0">
                <a:highlight>
                  <a:srgbClr val="C0C0C0"/>
                </a:highlight>
              </a:rPr>
              <a:t>-ng generate component component-name</a:t>
            </a:r>
            <a:endParaRPr lang="en-US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dirty="0">
                <a:highlight>
                  <a:srgbClr val="C0C0C0"/>
                </a:highlight>
              </a:rPr>
              <a:t>-ng build</a:t>
            </a:r>
          </a:p>
          <a:p>
            <a:pPr marL="0" indent="0">
              <a:buNone/>
            </a:pPr>
            <a:r>
              <a:rPr dirty="0">
                <a:highlight>
                  <a:srgbClr val="C0C0C0"/>
                </a:highlight>
              </a:rPr>
              <a:t>-ng test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689D2-D133-D6BC-D8F8-D5CBC1BE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890603-DD95-8F0F-1319-9D29F007F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40963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8D18DF04E7B24DB531D034DE08C523" ma:contentTypeVersion="3" ma:contentTypeDescription="Create a new document." ma:contentTypeScope="" ma:versionID="b8f428bb502a5d78b36408c0d350d9b2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c71adba50243d8c77707b0c12b57a4a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F8DCD4-4BC9-475A-A6D3-F503E08BCF91}"/>
</file>

<file path=customXml/itemProps2.xml><?xml version="1.0" encoding="utf-8"?>
<ds:datastoreItem xmlns:ds="http://schemas.openxmlformats.org/officeDocument/2006/customXml" ds:itemID="{7A7956A5-D33E-4A2D-86C1-A8CC60EA87E9}">
  <ds:schemaRefs>
    <ds:schemaRef ds:uri="http://schemas.microsoft.com/office/2006/metadata/properties"/>
    <ds:schemaRef ds:uri="http://schemas.microsoft.com/office/infopath/2007/PartnerControls"/>
    <ds:schemaRef ds:uri="e9e9c1a5-ef74-4f98-9f78-79d300163cff"/>
    <ds:schemaRef ds:uri="02b56de7-dd82-41d8-ad33-7d0fd9a7b550"/>
  </ds:schemaRefs>
</ds:datastoreItem>
</file>

<file path=customXml/itemProps3.xml><?xml version="1.0" encoding="utf-8"?>
<ds:datastoreItem xmlns:ds="http://schemas.openxmlformats.org/officeDocument/2006/customXml" ds:itemID="{D47E1404-B0C7-49DB-B4EE-F79CF03B7E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573</Words>
  <Application>Microsoft Office PowerPoint</Application>
  <PresentationFormat>Экран (4:3)</PresentationFormat>
  <Paragraphs>71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Introduction to Angular</vt:lpstr>
      <vt:lpstr>Agenda</vt:lpstr>
      <vt:lpstr>What is Angular?</vt:lpstr>
      <vt:lpstr>What is the Goal of Angular?</vt:lpstr>
      <vt:lpstr>Key Goals</vt:lpstr>
      <vt:lpstr>Angular Architecture</vt:lpstr>
      <vt:lpstr>Core Architectural Building Blocks</vt:lpstr>
      <vt:lpstr>Objectives of Angular</vt:lpstr>
      <vt:lpstr>Objectives of Angular</vt:lpstr>
      <vt:lpstr>Objectives of Angular</vt:lpstr>
      <vt:lpstr>Key Features of Angular</vt:lpstr>
      <vt:lpstr>TypeScript in Angular</vt:lpstr>
      <vt:lpstr>JavaScript vs Typescript</vt:lpstr>
      <vt:lpstr>Setting Up an Angular Project</vt:lpstr>
      <vt:lpstr>Angular CLI - Key Commands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Sholpan Saimassayeva</cp:lastModifiedBy>
  <cp:revision>17</cp:revision>
  <dcterms:created xsi:type="dcterms:W3CDTF">2013-01-27T09:14:16Z</dcterms:created>
  <dcterms:modified xsi:type="dcterms:W3CDTF">2026-02-08T17:09:08Z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  <property fmtid="{D5CDD505-2E9C-101B-9397-08002B2CF9AE}" pid="3" name="MediaServiceImageTags">
    <vt:lpwstr/>
  </property>
</Properties>
</file>